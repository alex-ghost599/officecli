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98316d6fe0403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f9f73714dc447c8"/>
    <p:sldId id="257" r:id="Rf74442985c464001"/>
    <p:sldId id="258" r:id="Rd231458e6d9c4f45"/>
    <p:sldId id="259" r:id="R8e66bb79ebc8473f"/>
    <p:sldId id="260" r:id="R9139972ffb5947c4"/>
    <p:sldId id="261" r:id="Rcf76e96d80414200"/>
    <p:sldId id="262" r:id="R928e310d4fab469e"/>
    <p:sldId id="263" r:id="Rd673c9b4e9ad475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f9f73714dc447c8" /><Relationship Type="http://schemas.openxmlformats.org/officeDocument/2006/relationships/slide" Target="/ppt/slides/slide2.xml" Id="Rf74442985c464001" /><Relationship Type="http://schemas.openxmlformats.org/officeDocument/2006/relationships/slide" Target="/ppt/slides/slide3.xml" Id="Rd231458e6d9c4f45" /><Relationship Type="http://schemas.openxmlformats.org/officeDocument/2006/relationships/slide" Target="/ppt/slides/slide4.xml" Id="R8e66bb79ebc8473f" /><Relationship Type="http://schemas.openxmlformats.org/officeDocument/2006/relationships/slide" Target="/ppt/slides/slide5.xml" Id="R9139972ffb5947c4" /><Relationship Type="http://schemas.openxmlformats.org/officeDocument/2006/relationships/slide" Target="/ppt/slides/slide6.xml" Id="Rcf76e96d80414200" /><Relationship Type="http://schemas.openxmlformats.org/officeDocument/2006/relationships/slide" Target="/ppt/slides/slide7.xml" Id="R928e310d4fab469e" /><Relationship Type="http://schemas.openxmlformats.org/officeDocument/2006/relationships/slide" Target="/ppt/slides/slide8.xml" Id="Rd673c9b4e9ad475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6077ee237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bf67b434a40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c217f325744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d20a0fce6423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5da48ac046741c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1249e43b5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884872617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3f610513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a31feb39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164a2f1234830" /><Relationship Type="http://schemas.openxmlformats.org/officeDocument/2006/relationships/chart" Target="/ppt/slides/charts/chart1.xml" Id="Rced269bae74b44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743571d7a431c" /><Relationship Type="http://schemas.openxmlformats.org/officeDocument/2006/relationships/chart" Target="/ppt/slides/charts/chart2.xml" Id="R89f9c2a7dd2e49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00c71665f42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e09ee60584bfc" /></Relationships>
</file>

<file path=ppt/slides/charts/chart1.xml><?xml version="1.0" encoding="utf-8"?>
<c:chartSpace xmlns:c="http://schemas.openxmlformats.org/drawingml/2006/chart">
  <c:chart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28</c:v>
              </c:pt>
              <c:pt idx="2">
                <c:v>22</c:v>
              </c:pt>
              <c:pt idx="3">
                <c:v>15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overlay val="0"/>
    </c:legend>
    <c:plotVisOnly val="1"/>
    <c:dispBlanksAs val="gap"/>
  </c:chart>
</c:chartSpace>
</file>

<file path=ppt/slides/charts/chart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Department Budget vs Actual ($)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C9A84C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1200000</c:v>
              </c:pt>
              <c:pt idx="1">
                <c:v>800000</c:v>
              </c:pt>
              <c:pt idx="2">
                <c:v>600000</c:v>
              </c:pt>
              <c:pt idx="3">
                <c:v>400000</c:v>
              </c:pt>
              <c:pt idx="4">
                <c:v>500000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5A9E48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1050000</c:v>
              </c:pt>
              <c:pt idx="1">
                <c:v>920000</c:v>
              </c:pt>
              <c:pt idx="2">
                <c:v>580000</c:v>
              </c:pt>
              <c:pt idx="3">
                <c:v>390000</c:v>
              </c:pt>
              <c:pt idx="4">
                <c:v>460000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560000" y="0"/>
            <a:ext cx="7200000" cy="7200000"/>
          </a:xfrm>
          <a:prstGeom prst="ellipse">
            <a:avLst/>
          </a:prstGeom>
          <a:solidFill>
            <a:srgbClr val="C9A84C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360000" y="3600000"/>
            <a:ext cx="4320000" cy="4320000"/>
          </a:xfrm>
          <a:prstGeom prst="ellipse">
            <a:avLst/>
          </a:prstGeom>
          <a:solidFill>
            <a:srgbClr val="5A9E48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2160000" cy="2160000"/>
          </a:xfrm>
          <a:prstGeom prst="rect">
            <a:avLst/>
          </a:prstGeom>
          <a:solidFill>
            <a:srgbClr val="C9A84C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360000" y="4680000"/>
            <a:ext cx="1440000" cy="14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8BC94A">
              <a:alpha val="1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6192000" y="2016000"/>
            <a:ext cx="360000" cy="360000"/>
          </a:xfrm>
          <a:prstGeom prst="ellipse">
            <a:avLst/>
          </a:prstGeom>
          <a:solidFill>
            <a:srgbClr val="C9A84C">
              <a:alpha val="6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792000"/>
            <a:ext cx="2520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792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080A0E"/>
                </a:solidFill>
                <a:latin typeface="Calibri"/>
                <a:ea typeface="Calibri"/>
              </a:rPr>
              <a:t>BUDGET REVIEW  ·  FY 2024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1188000"/>
            <a:ext cx="540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800" b="0">
                <a:solidFill>
                  <a:srgbClr val="C9A84C"/>
                </a:solidFill>
                <a:latin typeface="Aptos Display"/>
                <a:ea typeface="Aptos Display"/>
              </a:rPr>
              <a:t>Budget Review</a:t>
            </a:r>
          </a:p>
        </p:txBody>
      </p:sp>
      <p:sp>
        <p:nvSpPr>
          <p:cNvPr id="11" name="!!hl_sub"/>
          <p:cNvSpPr/>
          <p:nvPr/>
        </p:nvSpPr>
        <p:spPr>
          <a:xfrm>
            <a:off x="432000" y="3492000"/>
            <a:ext cx="54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A8A090"/>
                </a:solidFill>
                <a:latin typeface="Aptos"/>
                <a:ea typeface="Aptos"/>
              </a:rPr>
              <a:t>Strategic Financial Analysis &amp; Planning</a:t>
            </a:r>
          </a:p>
        </p:txBody>
      </p:sp>
      <p:sp>
        <p:nvSpPr>
          <p:cNvPr id="12" name="!!co_line"/>
          <p:cNvSpPr/>
          <p:nvPr/>
        </p:nvSpPr>
        <p:spPr>
          <a:xfrm>
            <a:off x="432000" y="4320000"/>
            <a:ext cx="1800000" cy="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org"/>
          <p:cNvSpPr/>
          <p:nvPr/>
        </p:nvSpPr>
        <p:spPr>
          <a:xfrm>
            <a:off x="432000" y="4500000"/>
            <a:ext cx="36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6A6458"/>
                </a:solidFill>
                <a:latin typeface="Aptos"/>
                <a:ea typeface="Aptos"/>
              </a:rPr>
              <a:t>Finance &amp; Strategy Division</a:t>
            </a:r>
          </a:p>
        </p:txBody>
      </p:sp>
      <p:sp>
        <p:nvSpPr>
          <p:cNvPr id="14" name="!!co_imgph"/>
          <p:cNvSpPr/>
          <p:nvPr/>
        </p:nvSpPr>
        <p:spPr>
          <a:xfrm>
            <a:off x="6480000" y="360000"/>
            <a:ext cx="5520000" cy="6120000"/>
          </a:xfrm>
          <a:prstGeom prst="roundRect">
            <a:avLst/>
          </a:prstGeom>
          <a:solidFill>
            <a:srgbClr val="141A20"/>
          </a:solidFill>
          <a:ln w="2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imgph_txt"/>
          <p:cNvSpPr/>
          <p:nvPr/>
        </p:nvSpPr>
        <p:spPr>
          <a:xfrm>
            <a:off x="7920000" y="3240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252820"/>
                </a:solidFill>
                <a:latin typeface="Aptos"/>
                <a:ea typeface="Aptos"/>
              </a:rPr>
              <a:t>[ 流光背景图片 ]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0"/>
            <a:ext cx="5400000" cy="5400000"/>
          </a:xfrm>
          <a:prstGeom prst="ellipse">
            <a:avLst/>
          </a:prstGeom>
          <a:solidFill>
            <a:srgbClr val="5A9E48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720000" y="3960000"/>
            <a:ext cx="4320000" cy="4320000"/>
          </a:xfrm>
          <a:prstGeom prst="ellipse">
            <a:avLst/>
          </a:prstGeom>
          <a:solidFill>
            <a:srgbClr val="C9A84C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C94A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9000000" y="1440000"/>
            <a:ext cx="1800000" cy="180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C9A84C">
              <a:alpha val="2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080000" y="5400000"/>
            <a:ext cx="504000" cy="504000"/>
          </a:xfrm>
          <a:prstGeom prst="ellipse">
            <a:avLst/>
          </a:prstGeom>
          <a:solidFill>
            <a:srgbClr val="8BC94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o_accent"/>
          <p:cNvSpPr/>
          <p:nvPr/>
        </p:nvSpPr>
        <p:spPr>
          <a:xfrm>
            <a:off x="432000" y="2016000"/>
            <a:ext cx="1440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2268000"/>
            <a:ext cx="9360000" cy="25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F2F0E8"/>
                </a:solidFill>
                <a:latin typeface="Aptos Display"/>
                <a:ea typeface="Aptos Display"/>
              </a:rPr>
              <a:t>Effective budget reviews drive alignment — not just accountability.</a:t>
            </a:r>
          </a:p>
        </p:txBody>
      </p:sp>
      <p:sp>
        <p:nvSpPr>
          <p:cNvPr id="10" name="!!hl_sub"/>
          <p:cNvSpPr/>
          <p:nvPr/>
        </p:nvSpPr>
        <p:spPr>
          <a:xfrm>
            <a:off x="432000" y="4896000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i="1">
                <a:solidFill>
                  <a:srgbClr val="A8A090"/>
                </a:solidFill>
                <a:latin typeface="Aptos"/>
                <a:ea typeface="Aptos"/>
              </a:rPr>
              <a:t>When every stakeholder shares the same financial context, decisions follow naturally.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1800000"/>
            <a:ext cx="12192000" cy="5400000"/>
          </a:xfrm>
          <a:prstGeom prst="rect">
            <a:avLst/>
          </a:prstGeom>
          <a:solidFill>
            <a:srgbClr val="C9A84C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000000" y="3600000"/>
            <a:ext cx="5400000" cy="5400000"/>
          </a:xfrm>
          <a:prstGeom prst="ellipse">
            <a:avLst/>
          </a:prstGeom>
          <a:solidFill>
            <a:srgbClr val="5A9E48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4680000" cy="1620000"/>
          </a:xfrm>
          <a:prstGeom prst="rect">
            <a:avLst/>
          </a:prstGeom>
          <a:solidFill>
            <a:srgbClr val="C9A84C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360000" y="5760000"/>
            <a:ext cx="1080000" cy="108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8BC94A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1520000" y="720000"/>
            <a:ext cx="360000" cy="360000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1800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360000"/>
            <a:ext cx="180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OVERVIEW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540000"/>
            <a:ext cx="11328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F2F0E8"/>
                </a:solidFill>
                <a:latin typeface="Aptos Display"/>
                <a:ea typeface="Aptos Display"/>
              </a:rPr>
              <a:t>Previous Budget Period Overview</a:t>
            </a:r>
          </a:p>
        </p:txBody>
      </p:sp>
      <p:sp>
        <p:nvSpPr>
          <p:cNvPr id="11" name="!!hl_sub"/>
          <p:cNvSpPr/>
          <p:nvPr/>
        </p:nvSpPr>
        <p:spPr>
          <a:xfrm>
            <a:off x="432000" y="1692000"/>
            <a:ext cx="11328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A8A090"/>
                </a:solidFill>
                <a:latin typeface="Aptos"/>
                <a:ea typeface="Aptos"/>
              </a:rPr>
              <a:t>Establishing the baseline and strategic framework that guided allocation decisions.</a:t>
            </a:r>
          </a:p>
        </p:txBody>
      </p:sp>
      <p:sp>
        <p:nvSpPr>
          <p:cNvPr id="12" name="!!co_card0"/>
          <p:cNvSpPr/>
          <p:nvPr/>
        </p:nvSpPr>
        <p:spPr>
          <a:xfrm>
            <a:off x="432000" y="2304000"/>
            <a:ext cx="2736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strip0"/>
          <p:cNvSpPr/>
          <p:nvPr/>
        </p:nvSpPr>
        <p:spPr>
          <a:xfrm>
            <a:off x="432000" y="2304000"/>
            <a:ext cx="2736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o_num_bg0"/>
          <p:cNvSpPr/>
          <p:nvPr/>
        </p:nvSpPr>
        <p:spPr>
          <a:xfrm>
            <a:off x="576000" y="2520000"/>
            <a:ext cx="720000" cy="720000"/>
          </a:xfrm>
          <a:prstGeom prst="ellipse">
            <a:avLst/>
          </a:pr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num0"/>
          <p:cNvSpPr/>
          <p:nvPr/>
        </p:nvSpPr>
        <p:spPr>
          <a:xfrm>
            <a:off x="576000" y="252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C9A84C"/>
                </a:solidFill>
                <a:latin typeface="Aptos"/>
                <a:ea typeface="Aptos"/>
              </a:rPr>
              <a:t>1</a:t>
            </a:r>
          </a:p>
        </p:txBody>
      </p:sp>
      <p:sp>
        <p:nvSpPr>
          <p:cNvPr id="16" name="!!co_ctitle0"/>
          <p:cNvSpPr/>
          <p:nvPr/>
        </p:nvSpPr>
        <p:spPr>
          <a:xfrm>
            <a:off x="576000" y="3348000"/>
            <a:ext cx="244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F2F0E8"/>
                </a:solidFill>
                <a:latin typeface="Aptos Display"/>
                <a:ea typeface="Aptos Display"/>
              </a:rPr>
              <a:t>Budget Allocated</a:t>
            </a:r>
          </a:p>
        </p:txBody>
      </p:sp>
      <p:sp>
        <p:nvSpPr>
          <p:cNvPr id="17" name="!!co_cb0_ico"/>
          <p:cNvSpPr/>
          <p:nvPr/>
        </p:nvSpPr>
        <p:spPr>
          <a:xfrm>
            <a:off x="576000" y="401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6">
            <a:solidFill>
              <a:srgbClr val="5A9E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co_cb0_txt"/>
          <p:cNvSpPr/>
          <p:nvPr/>
        </p:nvSpPr>
        <p:spPr>
          <a:xfrm>
            <a:off x="1296000" y="3960000"/>
            <a:ext cx="1728000" cy="59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Calibri"/>
                <a:ea typeface="Calibri"/>
              </a:rPr>
              <a:t>Total funding approved for the period</a:t>
            </a:r>
          </a:p>
        </p:txBody>
      </p:sp>
      <p:sp>
        <p:nvSpPr>
          <p:cNvPr id="19" name="!!co_card1"/>
          <p:cNvSpPr/>
          <p:nvPr/>
        </p:nvSpPr>
        <p:spPr>
          <a:xfrm>
            <a:off x="3276000" y="2304000"/>
            <a:ext cx="2736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co_strip1"/>
          <p:cNvSpPr/>
          <p:nvPr/>
        </p:nvSpPr>
        <p:spPr>
          <a:xfrm>
            <a:off x="3276000" y="2304000"/>
            <a:ext cx="2736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num_bg1"/>
          <p:cNvSpPr/>
          <p:nvPr/>
        </p:nvSpPr>
        <p:spPr>
          <a:xfrm>
            <a:off x="3420000" y="2520000"/>
            <a:ext cx="720000" cy="720000"/>
          </a:xfrm>
          <a:prstGeom prst="ellipse">
            <a:avLst/>
          </a:pr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!!co_num1"/>
          <p:cNvSpPr/>
          <p:nvPr/>
        </p:nvSpPr>
        <p:spPr>
          <a:xfrm>
            <a:off x="3420000" y="252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C9A84C"/>
                </a:solidFill>
                <a:latin typeface="Aptos"/>
                <a:ea typeface="Aptos"/>
              </a:rPr>
              <a:t>2</a:t>
            </a:r>
          </a:p>
        </p:txBody>
      </p:sp>
      <p:sp>
        <p:nvSpPr>
          <p:cNvPr id="23" name="!!co_ctitle1"/>
          <p:cNvSpPr/>
          <p:nvPr/>
        </p:nvSpPr>
        <p:spPr>
          <a:xfrm>
            <a:off x="3420000" y="3348000"/>
            <a:ext cx="244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F2F0E8"/>
                </a:solidFill>
                <a:latin typeface="Aptos Display"/>
                <a:ea typeface="Aptos Display"/>
              </a:rPr>
              <a:t>Period Covered</a:t>
            </a:r>
          </a:p>
        </p:txBody>
      </p:sp>
      <p:sp>
        <p:nvSpPr>
          <p:cNvPr id="24" name="!!co_cb1_ico"/>
          <p:cNvSpPr/>
          <p:nvPr/>
        </p:nvSpPr>
        <p:spPr>
          <a:xfrm>
            <a:off x="3420000" y="401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6">
            <a:solidFill>
              <a:srgbClr val="5A9E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co_cb1_txt"/>
          <p:cNvSpPr/>
          <p:nvPr/>
        </p:nvSpPr>
        <p:spPr>
          <a:xfrm>
            <a:off x="4140000" y="3960000"/>
            <a:ext cx="172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Calibri"/>
                <a:ea typeface="Calibri"/>
              </a:rPr>
              <a:t>Timeframe under review</a:t>
            </a:r>
          </a:p>
        </p:txBody>
      </p:sp>
      <p:sp>
        <p:nvSpPr>
          <p:cNvPr id="26" name="!!co_card2"/>
          <p:cNvSpPr/>
          <p:nvPr/>
        </p:nvSpPr>
        <p:spPr>
          <a:xfrm>
            <a:off x="6120000" y="2304000"/>
            <a:ext cx="2736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!!co_strip2"/>
          <p:cNvSpPr/>
          <p:nvPr/>
        </p:nvSpPr>
        <p:spPr>
          <a:xfrm>
            <a:off x="6120000" y="2304000"/>
            <a:ext cx="2736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!!co_num_bg2"/>
          <p:cNvSpPr/>
          <p:nvPr/>
        </p:nvSpPr>
        <p:spPr>
          <a:xfrm>
            <a:off x="6264000" y="2520000"/>
            <a:ext cx="720000" cy="720000"/>
          </a:xfrm>
          <a:prstGeom prst="ellipse">
            <a:avLst/>
          </a:pr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co_num2"/>
          <p:cNvSpPr/>
          <p:nvPr/>
        </p:nvSpPr>
        <p:spPr>
          <a:xfrm>
            <a:off x="6264000" y="252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C9A84C"/>
                </a:solidFill>
                <a:latin typeface="Aptos"/>
                <a:ea typeface="Aptos"/>
              </a:rPr>
              <a:t>3</a:t>
            </a:r>
          </a:p>
        </p:txBody>
      </p:sp>
      <p:sp>
        <p:nvSpPr>
          <p:cNvPr id="30" name="!!co_ctitle2"/>
          <p:cNvSpPr/>
          <p:nvPr/>
        </p:nvSpPr>
        <p:spPr>
          <a:xfrm>
            <a:off x="6264000" y="3348000"/>
            <a:ext cx="2448000" cy="57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F2F0E8"/>
                </a:solidFill>
                <a:latin typeface="Aptos Display"/>
                <a:ea typeface="Aptos Display"/>
              </a:rPr>
              <a:t>Primary Objectives</a:t>
            </a:r>
          </a:p>
        </p:txBody>
      </p:sp>
      <p:sp>
        <p:nvSpPr>
          <p:cNvPr id="31" name="!!co_cb2_ico"/>
          <p:cNvSpPr/>
          <p:nvPr/>
        </p:nvSpPr>
        <p:spPr>
          <a:xfrm>
            <a:off x="6264000" y="401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6">
            <a:solidFill>
              <a:srgbClr val="5A9E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!!co_cb2_txt"/>
          <p:cNvSpPr/>
          <p:nvPr/>
        </p:nvSpPr>
        <p:spPr>
          <a:xfrm>
            <a:off x="6984000" y="3960000"/>
            <a:ext cx="172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Calibri"/>
                <a:ea typeface="Calibri"/>
              </a:rPr>
              <a:t>Key goals and strategic priorities</a:t>
            </a:r>
          </a:p>
        </p:txBody>
      </p:sp>
      <p:sp>
        <p:nvSpPr>
          <p:cNvPr id="33" name="!!co_card3"/>
          <p:cNvSpPr/>
          <p:nvPr/>
        </p:nvSpPr>
        <p:spPr>
          <a:xfrm>
            <a:off x="8964000" y="2304000"/>
            <a:ext cx="2736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!!co_strip3"/>
          <p:cNvSpPr/>
          <p:nvPr/>
        </p:nvSpPr>
        <p:spPr>
          <a:xfrm>
            <a:off x="8964000" y="2304000"/>
            <a:ext cx="2736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!!co_num_bg3"/>
          <p:cNvSpPr/>
          <p:nvPr/>
        </p:nvSpPr>
        <p:spPr>
          <a:xfrm>
            <a:off x="9108000" y="2520000"/>
            <a:ext cx="720000" cy="720000"/>
          </a:xfrm>
          <a:prstGeom prst="ellipse">
            <a:avLst/>
          </a:pr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!!co_num3"/>
          <p:cNvSpPr/>
          <p:nvPr/>
        </p:nvSpPr>
        <p:spPr>
          <a:xfrm>
            <a:off x="9108000" y="252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C9A84C"/>
                </a:solidFill>
                <a:latin typeface="Aptos"/>
                <a:ea typeface="Aptos"/>
              </a:rPr>
              <a:t>4</a:t>
            </a:r>
          </a:p>
        </p:txBody>
      </p:sp>
      <p:sp>
        <p:nvSpPr>
          <p:cNvPr id="37" name="!!co_ctitle3"/>
          <p:cNvSpPr/>
          <p:nvPr/>
        </p:nvSpPr>
        <p:spPr>
          <a:xfrm>
            <a:off x="9108000" y="3348000"/>
            <a:ext cx="244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F2F0E8"/>
                </a:solidFill>
                <a:latin typeface="Aptos Display"/>
                <a:ea typeface="Aptos Display"/>
              </a:rPr>
              <a:t>Major Initiatives</a:t>
            </a:r>
          </a:p>
        </p:txBody>
      </p:sp>
      <p:sp>
        <p:nvSpPr>
          <p:cNvPr id="38" name="!!co_cb3_ico"/>
          <p:cNvSpPr/>
          <p:nvPr/>
        </p:nvSpPr>
        <p:spPr>
          <a:xfrm>
            <a:off x="9108000" y="401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6">
            <a:solidFill>
              <a:srgbClr val="5A9E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!!co_cb3_txt"/>
          <p:cNvSpPr/>
          <p:nvPr/>
        </p:nvSpPr>
        <p:spPr>
          <a:xfrm>
            <a:off x="9828000" y="3960000"/>
            <a:ext cx="172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Calibri"/>
                <a:ea typeface="Calibri"/>
              </a:rPr>
              <a:t>Significant projects funded</a:t>
            </a:r>
          </a:p>
        </p:txBody>
      </p:sp>
      <p:sp>
        <p:nvSpPr>
          <p:cNvPr id="40" name="!!co_footer"/>
          <p:cNvSpPr/>
          <p:nvPr/>
        </p:nvSpPr>
        <p:spPr>
          <a:xfrm>
            <a:off x="432000" y="5616000"/>
            <a:ext cx="11328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6A6458"/>
                </a:solidFill>
                <a:latin typeface="Aptos"/>
                <a:ea typeface="Aptos"/>
              </a:rPr>
              <a:t>This section provides context for the financial period being reviewed, establishing the baseline for our analysis.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360000" y="900000"/>
            <a:ext cx="5760000" cy="5760000"/>
          </a:xfrm>
          <a:prstGeom prst="ellipse">
            <a:avLst/>
          </a:prstGeom>
          <a:solidFill>
            <a:srgbClr val="C9A84C">
              <a:alpha val="3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5400000" y="2160000"/>
            <a:ext cx="3960000" cy="3960000"/>
          </a:xfrm>
          <a:prstGeom prst="ellipse">
            <a:avLst/>
          </a:prstGeom>
          <a:solidFill>
            <a:srgbClr val="5A9E48">
              <a:alpha val="2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12192000" cy="1800000"/>
          </a:xfrm>
          <a:prstGeom prst="rect">
            <a:avLst/>
          </a:prstGeom>
          <a:solidFill>
            <a:srgbClr val="C9A84C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1160000" y="5400000"/>
            <a:ext cx="1440000" cy="14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8BC94A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360000" y="6120000"/>
            <a:ext cx="504000" cy="504000"/>
          </a:xfrm>
          <a:prstGeom prst="ellipse">
            <a:avLst/>
          </a:prstGeom>
          <a:solidFill>
            <a:srgbClr val="C9A84C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2880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360000"/>
            <a:ext cx="288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BUDGET OVERVIEW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540000"/>
            <a:ext cx="11328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F2F0E8"/>
                </a:solidFill>
                <a:latin typeface="Aptos Display"/>
                <a:ea typeface="Aptos Display"/>
              </a:rPr>
              <a:t>Budget Allocation Summary</a:t>
            </a:r>
          </a:p>
        </p:txBody>
      </p:sp>
      <p:sp>
        <p:nvSpPr>
          <p:cNvPr id="11" name="!!co_k1"/>
          <p:cNvSpPr/>
          <p:nvPr/>
        </p:nvSpPr>
        <p:spPr>
          <a:xfrm>
            <a:off x="432000" y="1980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200" b="0">
                <a:solidFill>
                  <a:srgbClr val="F2F0E8"/>
                </a:solidFill>
                <a:latin typeface="Aptos Display"/>
                <a:ea typeface="Aptos Display"/>
              </a:rPr>
              <a:t>$4.2M</a:t>
            </a:r>
          </a:p>
        </p:txBody>
      </p:sp>
      <p:sp>
        <p:nvSpPr>
          <p:cNvPr id="12" name="!!co_k1_lbl"/>
          <p:cNvSpPr/>
          <p:nvPr/>
        </p:nvSpPr>
        <p:spPr>
          <a:xfrm>
            <a:off x="432000" y="3816000"/>
            <a:ext cx="36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A8A090"/>
                </a:solidFill>
                <a:latin typeface="Aptos"/>
                <a:ea typeface="Aptos"/>
              </a:rPr>
              <a:t>Total Budget Allocated</a:t>
            </a:r>
          </a:p>
        </p:txBody>
      </p:sp>
      <p:sp>
        <p:nvSpPr>
          <p:cNvPr id="13" name="!!co_k1_note_ico"/>
          <p:cNvSpPr/>
          <p:nvPr/>
        </p:nvSpPr>
        <p:spPr>
          <a:xfrm>
            <a:off x="432000" y="4446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8" h="80">
                <a:moveTo>
                  <a:pt x="10" y="80"/>
                </a:moveTo>
                <a:lnTo>
                  <a:pt x="10" y="50"/>
                </a:lnTo>
                <a:lnTo>
                  <a:pt x="28" y="50"/>
                </a:lnTo>
                <a:lnTo>
                  <a:pt x="28" y="80"/>
                </a:lnTo>
                <a:moveTo>
                  <a:pt x="40" y="80"/>
                </a:moveTo>
                <a:lnTo>
                  <a:pt x="40" y="25"/>
                </a:lnTo>
                <a:lnTo>
                  <a:pt x="58" y="25"/>
                </a:lnTo>
                <a:lnTo>
                  <a:pt x="58" y="80"/>
                </a:lnTo>
                <a:moveTo>
                  <a:pt x="70" y="80"/>
                </a:moveTo>
                <a:lnTo>
                  <a:pt x="70" y="55"/>
                </a:lnTo>
                <a:lnTo>
                  <a:pt x="88" y="55"/>
                </a:lnTo>
                <a:lnTo>
                  <a:pt x="88" y="80"/>
                </a:lnTo>
              </a:path>
            </a:pathLst>
          </a:custGeom>
          <a:noFill/>
          <a:ln w="6">
            <a:solidFill>
              <a:srgbClr val="C9A84C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o_k1_note_txt"/>
          <p:cNvSpPr/>
          <p:nvPr/>
        </p:nvSpPr>
        <p:spPr>
          <a:xfrm>
            <a:off x="1152000" y="4392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Across 5 departments, 12 projects</a:t>
            </a:r>
          </a:p>
        </p:txBody>
      </p:sp>
      <p:sp>
        <p:nvSpPr>
          <p:cNvPr id="15" name="!!co_k2"/>
          <p:cNvSpPr/>
          <p:nvPr/>
        </p:nvSpPr>
        <p:spPr>
          <a:xfrm>
            <a:off x="4320000" y="2340000"/>
            <a:ext cx="324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400" b="0">
                <a:solidFill>
                  <a:srgbClr val="8BC94A"/>
                </a:solidFill>
                <a:latin typeface="Aptos Display"/>
                <a:ea typeface="Aptos Display"/>
              </a:rPr>
              <a:t>$3.8M</a:t>
            </a:r>
          </a:p>
        </p:txBody>
      </p:sp>
      <p:sp>
        <p:nvSpPr>
          <p:cNvPr id="16" name="!!co_k2_lbl"/>
          <p:cNvSpPr/>
          <p:nvPr/>
        </p:nvSpPr>
        <p:spPr>
          <a:xfrm>
            <a:off x="4320000" y="3816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A8A090"/>
                </a:solidFill>
                <a:latin typeface="Aptos"/>
                <a:ea typeface="Aptos"/>
              </a:rPr>
              <a:t>Total Budget Spent</a:t>
            </a:r>
          </a:p>
        </p:txBody>
      </p:sp>
      <p:sp>
        <p:nvSpPr>
          <p:cNvPr id="17" name="!!co_k2_note_ico"/>
          <p:cNvSpPr/>
          <p:nvPr/>
        </p:nvSpPr>
        <p:spPr>
          <a:xfrm>
            <a:off x="4320000" y="4446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  <a:noFill/>
          <a:ln w="6">
            <a:solidFill>
              <a:srgbClr val="8BC94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co_k2_note_txt"/>
          <p:cNvSpPr/>
          <p:nvPr/>
        </p:nvSpPr>
        <p:spPr>
          <a:xfrm>
            <a:off x="5040000" y="4392000"/>
            <a:ext cx="252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90.5% utilization rate</a:t>
            </a:r>
          </a:p>
        </p:txBody>
      </p:sp>
      <p:sp>
        <p:nvSpPr>
          <p:cNvPr id="19" name="!!co_k3"/>
          <p:cNvSpPr/>
          <p:nvPr/>
        </p:nvSpPr>
        <p:spPr>
          <a:xfrm>
            <a:off x="7920000" y="2700000"/>
            <a:ext cx="28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6A6458"/>
                </a:solidFill>
                <a:latin typeface="Aptos Display"/>
                <a:ea typeface="Aptos Display"/>
              </a:rPr>
              <a:t>9.5%</a:t>
            </a:r>
          </a:p>
        </p:txBody>
      </p:sp>
      <p:sp>
        <p:nvSpPr>
          <p:cNvPr id="20" name="!!co_k3_lbl"/>
          <p:cNvSpPr/>
          <p:nvPr/>
        </p:nvSpPr>
        <p:spPr>
          <a:xfrm>
            <a:off x="7920000" y="3816000"/>
            <a:ext cx="288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6A6458"/>
                </a:solidFill>
                <a:latin typeface="Aptos"/>
                <a:ea typeface="Aptos"/>
              </a:rPr>
              <a:t>Strategic Reserve</a:t>
            </a:r>
          </a:p>
        </p:txBody>
      </p:sp>
      <p:sp>
        <p:nvSpPr>
          <p:cNvPr id="21" name="!!co_k3_note_ico"/>
          <p:cNvSpPr/>
          <p:nvPr/>
        </p:nvSpPr>
        <p:spPr>
          <a:xfrm>
            <a:off x="7920000" y="4446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8" h="82">
                <a:moveTo>
                  <a:pt x="50" y="12"/>
                </a:moveTo>
                <a:lnTo>
                  <a:pt x="88" y="82"/>
                </a:lnTo>
                <a:lnTo>
                  <a:pt x="12" y="82"/>
                </a:lnTo>
                <a:close/>
                <a:moveTo>
                  <a:pt x="50" y="42"/>
                </a:moveTo>
                <a:lnTo>
                  <a:pt x="50" y="62"/>
                </a:lnTo>
                <a:moveTo>
                  <a:pt x="50" y="70"/>
                </a:moveTo>
                <a:lnTo>
                  <a:pt x="50" y="74"/>
                </a:lnTo>
              </a:path>
            </a:pathLst>
          </a:custGeom>
          <a:noFill/>
          <a:ln w="6">
            <a:solidFill>
              <a:srgbClr val="6A645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!!co_k3_note_txt"/>
          <p:cNvSpPr/>
          <p:nvPr/>
        </p:nvSpPr>
        <p:spPr>
          <a:xfrm>
            <a:off x="8640000" y="43920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Maintained as planned</a:t>
            </a:r>
          </a:p>
        </p:txBody>
      </p:sp>
      <p:sp>
        <p:nvSpPr>
          <p:cNvPr id="23" name="!!co_iline"/>
          <p:cNvSpPr/>
          <p:nvPr/>
        </p:nvSpPr>
        <p:spPr>
          <a:xfrm>
            <a:off x="432000" y="5580000"/>
            <a:ext cx="11328000" cy="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co_insight"/>
          <p:cNvSpPr/>
          <p:nvPr/>
        </p:nvSpPr>
        <p:spPr>
          <a:xfrm>
            <a:off x="432000" y="5724000"/>
            <a:ext cx="11328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Aptos"/>
                <a:ea typeface="Aptos"/>
              </a:rPr>
              <a:t>Key Insight: Utilization exceeded 85% target across all departments, with strategic reserve maintained.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0"/>
            <a:ext cx="6192000" cy="6858000"/>
          </a:xfrm>
          <a:prstGeom prst="rect">
            <a:avLst/>
          </a:prstGeom>
          <a:solidFill>
            <a:srgbClr val="C9A84C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6336000" y="0"/>
            <a:ext cx="5856000" cy="6858000"/>
          </a:xfrm>
          <a:prstGeom prst="rect">
            <a:avLst/>
          </a:prstGeom>
          <a:solidFill>
            <a:srgbClr val="5A9E48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6192000" y="720000"/>
            <a:ext cx="144000" cy="541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0" y="0"/>
            <a:ext cx="3600000" cy="3600000"/>
          </a:xfrm>
          <a:prstGeom prst="ellipse">
            <a:avLst/>
          </a:prstGeom>
          <a:solidFill>
            <a:srgbClr val="C9A84C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8496000" y="5400000"/>
            <a:ext cx="1080000" cy="108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8BC94A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6192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360000"/>
            <a:ext cx="324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SPENDING ANALYSIS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540000"/>
            <a:ext cx="54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400" b="0">
                <a:solidFill>
                  <a:srgbClr val="F2F0E8"/>
                </a:solidFill>
                <a:latin typeface="Aptos Display"/>
                <a:ea typeface="Aptos Display"/>
              </a:rPr>
              <a:t>Expense Breakdown</a:t>
            </a:r>
          </a:p>
        </p:txBody>
      </p:sp>
      <p:sp>
        <p:nvSpPr>
          <p:cNvPr id="11" name="!!hl_sub"/>
          <p:cNvSpPr/>
          <p:nvPr/>
        </p:nvSpPr>
        <p:spPr>
          <a:xfrm>
            <a:off x="432000" y="1692000"/>
            <a:ext cx="54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A8A090"/>
                </a:solidFill>
                <a:latin typeface="Aptos"/>
                <a:ea typeface="Aptos"/>
              </a:rPr>
              <a:t>How resources were allocated across major spending categories.</a:t>
            </a:r>
          </a:p>
        </p:txBody>
      </p:sp>
      <p:sp>
        <p:nvSpPr>
          <p:cNvPr id="12" name="!!co_rbar0"/>
          <p:cNvSpPr/>
          <p:nvPr/>
        </p:nvSpPr>
        <p:spPr>
          <a:xfrm>
            <a:off x="432000" y="2304000"/>
            <a:ext cx="144000" cy="82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rtxt0"/>
          <p:cNvSpPr/>
          <p:nvPr/>
        </p:nvSpPr>
        <p:spPr>
          <a:xfrm>
            <a:off x="720000" y="2484000"/>
            <a:ext cx="5112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A8A090"/>
                </a:solidFill>
                <a:latin typeface="Aptos"/>
                <a:ea typeface="Aptos"/>
              </a:rPr>
              <a:t>Category 1 — largest portion  (35%)</a:t>
            </a:r>
          </a:p>
        </p:txBody>
      </p:sp>
      <p:sp>
        <p:nvSpPr>
          <p:cNvPr id="14" name="!!co_rbar1"/>
          <p:cNvSpPr/>
          <p:nvPr/>
        </p:nvSpPr>
        <p:spPr>
          <a:xfrm>
            <a:off x="432000" y="3348000"/>
            <a:ext cx="144000" cy="828000"/>
          </a:xfrm>
          <a:prstGeom prst="rect">
            <a:avLst/>
          </a:prstGeom>
          <a:solidFill>
            <a:srgbClr val="8BC94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rtxt1"/>
          <p:cNvSpPr/>
          <p:nvPr/>
        </p:nvSpPr>
        <p:spPr>
          <a:xfrm>
            <a:off x="720000" y="3528000"/>
            <a:ext cx="5112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A8A090"/>
                </a:solidFill>
                <a:latin typeface="Aptos"/>
                <a:ea typeface="Aptos"/>
              </a:rPr>
              <a:t>Category 2 — operational costs  (28%)</a:t>
            </a:r>
          </a:p>
        </p:txBody>
      </p:sp>
      <p:sp>
        <p:nvSpPr>
          <p:cNvPr id="16" name="!!co_rbar2"/>
          <p:cNvSpPr/>
          <p:nvPr/>
        </p:nvSpPr>
        <p:spPr>
          <a:xfrm>
            <a:off x="432000" y="4392000"/>
            <a:ext cx="144000" cy="82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rtxt2"/>
          <p:cNvSpPr/>
          <p:nvPr/>
        </p:nvSpPr>
        <p:spPr>
          <a:xfrm>
            <a:off x="720000" y="4572000"/>
            <a:ext cx="5112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A8A090"/>
                </a:solidFill>
                <a:latin typeface="Aptos"/>
                <a:ea typeface="Aptos"/>
              </a:rPr>
              <a:t>Category 3 — support functions  (22%)</a:t>
            </a:r>
          </a:p>
        </p:txBody>
      </p:sp>
      <p:sp>
        <p:nvSpPr>
          <p:cNvPr id="18" name="!!co_rbar3"/>
          <p:cNvSpPr/>
          <p:nvPr/>
        </p:nvSpPr>
        <p:spPr>
          <a:xfrm>
            <a:off x="432000" y="5436000"/>
            <a:ext cx="144000" cy="828000"/>
          </a:xfrm>
          <a:prstGeom prst="rect">
            <a:avLst/>
          </a:prstGeom>
          <a:solidFill>
            <a:srgbClr val="6A645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co_rtxt3"/>
          <p:cNvSpPr/>
          <p:nvPr/>
        </p:nvSpPr>
        <p:spPr>
          <a:xfrm>
            <a:off x="720000" y="5616000"/>
            <a:ext cx="5112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A8A090"/>
                </a:solidFill>
                <a:latin typeface="Aptos"/>
                <a:ea typeface="Aptos"/>
              </a:rPr>
              <a:t>Category 4 — strategic investments  (15%)</a:t>
            </a:r>
          </a:p>
        </p:txBody>
      </p:sp>
      <p:graphicFrame>
        <p:nvGraphicFramePr>
          <p:cNvPr id="22" name="Chart 22"/>
          <p:cNvGraphicFramePr/>
          <p:nvPr/>
        </p:nvGraphicFramePr>
        <p:xfrm>
          <a:off x="6696000" y="540000"/>
          <a:ext cx="5136000" cy="576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ced269bae74b4405"/>
          </a:graphicData>
        </a:graphic>
      </p:graphicFrame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8640000" y="3240000"/>
            <a:ext cx="5400000" cy="5400000"/>
          </a:xfrm>
          <a:prstGeom prst="ellipse">
            <a:avLst/>
          </a:prstGeom>
          <a:solidFill>
            <a:srgbClr val="5A9E48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0"/>
            <a:ext cx="2160000" cy="2160000"/>
          </a:xfrm>
          <a:prstGeom prst="ellipse">
            <a:avLst/>
          </a:prstGeom>
          <a:solidFill>
            <a:srgbClr val="C9A84C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8BC94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440000" y="5400000"/>
            <a:ext cx="1440000" cy="14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360000"/>
            <a:ext cx="324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VARIANCE ANALYSIS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540000"/>
            <a:ext cx="11328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F2F0E8"/>
                </a:solidFill>
                <a:latin typeface="Aptos Display"/>
                <a:ea typeface="Aptos Display"/>
              </a:rPr>
              <a:t>Budget vs. Actual Variance</a:t>
            </a:r>
          </a:p>
        </p:txBody>
      </p:sp>
      <p:sp>
        <p:nvSpPr>
          <p:cNvPr id="11" name="!!hl_sub"/>
          <p:cNvSpPr/>
          <p:nvPr/>
        </p:nvSpPr>
        <p:spPr>
          <a:xfrm>
            <a:off x="432000" y="1692000"/>
            <a:ext cx="11328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A8A090"/>
                </a:solidFill>
                <a:latin typeface="Aptos"/>
                <a:ea typeface="Aptos"/>
              </a:rPr>
              <a:t>Planned versus actual expenditures across departments, highlighting key deviations.</a:t>
            </a:r>
          </a:p>
        </p:txBody>
      </p:sp>
      <p:graphicFrame>
        <p:nvGraphicFramePr>
          <p:cNvPr id="14" name="Department Budget vs Actual ($)"/>
          <p:cNvGraphicFramePr/>
          <p:nvPr/>
        </p:nvGraphicFramePr>
        <p:xfrm>
          <a:off x="432000" y="2304000"/>
          <a:ext cx="11328000" cy="396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9f9c2a7dd2e49c0"/>
          </a:graphicData>
        </a:graphic>
      </p:graphicFrame>
      <p:sp>
        <p:nvSpPr>
          <p:cNvPr id="15" name="!!co_note"/>
          <p:cNvSpPr/>
          <p:nvPr/>
        </p:nvSpPr>
        <p:spPr>
          <a:xfrm>
            <a:off x="432000" y="6372000"/>
            <a:ext cx="11328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6A6458"/>
                </a:solidFill>
                <a:latin typeface="Aptos"/>
                <a:ea typeface="Aptos"/>
              </a:rPr>
              <a:t>Note: Marketing over-spend reflects accelerated Q3 campaign. R&amp;D and IT within approved parameters.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4176000" y="0"/>
            <a:ext cx="7200000" cy="7200000"/>
          </a:xfrm>
          <a:prstGeom prst="ellipse">
            <a:avLst/>
          </a:prstGeom>
          <a:solidFill>
            <a:srgbClr val="C9A84C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3240000"/>
            <a:ext cx="3600000" cy="3600000"/>
          </a:xfrm>
          <a:prstGeom prst="ellipse">
            <a:avLst/>
          </a:prstGeom>
          <a:solidFill>
            <a:srgbClr val="5A9E48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9360000" y="720000"/>
            <a:ext cx="2880000" cy="5418000"/>
          </a:xfrm>
          <a:prstGeom prst="rect">
            <a:avLst/>
          </a:prstGeom>
          <a:solidFill>
            <a:srgbClr val="C9A84C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1520000" y="5400000"/>
            <a:ext cx="1080000" cy="108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8BC94A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360000" y="1080000"/>
            <a:ext cx="504000" cy="504000"/>
          </a:xfrm>
          <a:prstGeom prst="ellipse">
            <a:avLst/>
          </a:prstGeom>
          <a:solidFill>
            <a:srgbClr val="C9A84C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108000"/>
          </a:xfrm>
          <a:prstGeom prst="rect">
            <a:avLst/>
          </a:prstGeom>
          <a:solidFill>
            <a:srgbClr val="5A9E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ag_txt"/>
          <p:cNvSpPr/>
          <p:nvPr/>
        </p:nvSpPr>
        <p:spPr>
          <a:xfrm>
            <a:off x="432000" y="360000"/>
            <a:ext cx="324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FORWARD OUTLOOK</a:t>
            </a:r>
          </a:p>
        </p:txBody>
      </p:sp>
      <p:sp>
        <p:nvSpPr>
          <p:cNvPr id="10" name="!!hl_title"/>
          <p:cNvSpPr/>
          <p:nvPr/>
        </p:nvSpPr>
        <p:spPr>
          <a:xfrm>
            <a:off x="432000" y="540000"/>
            <a:ext cx="792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400" b="0">
                <a:solidFill>
                  <a:srgbClr val="F2F0E8"/>
                </a:solidFill>
                <a:latin typeface="Aptos Display"/>
                <a:ea typeface="Aptos Display"/>
              </a:rPr>
              <a:t>Strategic Priorities for Next Period</a:t>
            </a:r>
          </a:p>
        </p:txBody>
      </p:sp>
      <p:sp>
        <p:nvSpPr>
          <p:cNvPr id="11" name="!!hl_sub"/>
          <p:cNvSpPr/>
          <p:nvPr/>
        </p:nvSpPr>
        <p:spPr>
          <a:xfrm>
            <a:off x="432000" y="1692000"/>
            <a:ext cx="792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A8A090"/>
                </a:solidFill>
                <a:latin typeface="Aptos"/>
                <a:ea typeface="Aptos"/>
              </a:rPr>
              <a:t>Building on this period's learnings to drive more efficient resource allocation.</a:t>
            </a:r>
          </a:p>
        </p:txBody>
      </p:sp>
      <p:sp>
        <p:nvSpPr>
          <p:cNvPr id="12" name="!!co_pc0"/>
          <p:cNvSpPr/>
          <p:nvPr/>
        </p:nvSpPr>
        <p:spPr>
          <a:xfrm>
            <a:off x="432000" y="2304000"/>
            <a:ext cx="3744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pstrip0"/>
          <p:cNvSpPr/>
          <p:nvPr/>
        </p:nvSpPr>
        <p:spPr>
          <a:xfrm>
            <a:off x="432000" y="2304000"/>
            <a:ext cx="3744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o_pico0"/>
          <p:cNvSpPr/>
          <p:nvPr/>
        </p:nvSpPr>
        <p:spPr>
          <a:xfrm>
            <a:off x="648000" y="2592000"/>
            <a:ext cx="720000" cy="720000"/>
          </a:xfrm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  <a:noFill/>
          <a:ln w="7">
            <a:solidFill>
              <a:srgbClr val="C9A84C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ptit0"/>
          <p:cNvSpPr/>
          <p:nvPr/>
        </p:nvSpPr>
        <p:spPr>
          <a:xfrm>
            <a:off x="648000" y="3384000"/>
            <a:ext cx="3312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C9A84C"/>
                </a:solidFill>
                <a:latin typeface="Aptos Display"/>
                <a:ea typeface="Aptos Display"/>
              </a:rPr>
              <a:t>Operational Excellence</a:t>
            </a:r>
          </a:p>
        </p:txBody>
      </p:sp>
      <p:sp>
        <p:nvSpPr>
          <p:cNvPr id="16" name="!!co_ptxt0"/>
          <p:cNvSpPr/>
          <p:nvPr/>
        </p:nvSpPr>
        <p:spPr>
          <a:xfrm>
            <a:off x="648000" y="3996000"/>
            <a:ext cx="3312000" cy="12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Aptos"/>
                <a:ea typeface="Aptos"/>
              </a:rPr>
              <a:t>Streamline core processes and reduce overhead by 12% through targeted efficiency programs.</a:t>
            </a:r>
          </a:p>
        </p:txBody>
      </p:sp>
      <p:sp>
        <p:nvSpPr>
          <p:cNvPr id="17" name="!!co_pc1"/>
          <p:cNvSpPr/>
          <p:nvPr/>
        </p:nvSpPr>
        <p:spPr>
          <a:xfrm>
            <a:off x="4356000" y="2304000"/>
            <a:ext cx="3744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co_pstrip1"/>
          <p:cNvSpPr/>
          <p:nvPr/>
        </p:nvSpPr>
        <p:spPr>
          <a:xfrm>
            <a:off x="4356000" y="2304000"/>
            <a:ext cx="3744000" cy="144000"/>
          </a:xfrm>
          <a:prstGeom prst="rect">
            <a:avLst/>
          </a:prstGeom>
          <a:solidFill>
            <a:srgbClr val="8BC94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co_pico1"/>
          <p:cNvSpPr/>
          <p:nvPr/>
        </p:nvSpPr>
        <p:spPr>
          <a:xfrm>
            <a:off x="4572000" y="2592000"/>
            <a:ext cx="720000" cy="720000"/>
          </a:xfrm>
          <a:custGeom>
            <a:avLst/>
            <a:gdLst/>
            <a:ahLst/>
            <a:cxnLst/>
            <a:rect l="0" t="0" r="r" b="b"/>
            <a:pathLst>
              <a:path w="90" h="84">
                <a:moveTo>
                  <a:pt x="50" y="10"/>
                </a:moveTo>
                <a:lnTo>
                  <a:pt x="61" y="37"/>
                </a:lnTo>
                <a:lnTo>
                  <a:pt x="90" y="37"/>
                </a:lnTo>
                <a:lnTo>
                  <a:pt x="67" y="57"/>
                </a:lnTo>
                <a:lnTo>
                  <a:pt x="75" y="84"/>
                </a:lnTo>
                <a:lnTo>
                  <a:pt x="50" y="67"/>
                </a:lnTo>
                <a:lnTo>
                  <a:pt x="25" y="84"/>
                </a:lnTo>
                <a:lnTo>
                  <a:pt x="33" y="57"/>
                </a:lnTo>
                <a:lnTo>
                  <a:pt x="10" y="37"/>
                </a:lnTo>
                <a:lnTo>
                  <a:pt x="39" y="37"/>
                </a:lnTo>
                <a:close/>
              </a:path>
            </a:pathLst>
          </a:custGeom>
          <a:noFill/>
          <a:ln w="7">
            <a:solidFill>
              <a:srgbClr val="8BC94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co_ptit1"/>
          <p:cNvSpPr/>
          <p:nvPr/>
        </p:nvSpPr>
        <p:spPr>
          <a:xfrm>
            <a:off x="4572000" y="3384000"/>
            <a:ext cx="3312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8BC94A"/>
                </a:solidFill>
                <a:latin typeface="Aptos Display"/>
                <a:ea typeface="Aptos Display"/>
              </a:rPr>
              <a:t>Strategic Investment</a:t>
            </a:r>
          </a:p>
        </p:txBody>
      </p:sp>
      <p:sp>
        <p:nvSpPr>
          <p:cNvPr id="21" name="!!co_ptxt1"/>
          <p:cNvSpPr/>
          <p:nvPr/>
        </p:nvSpPr>
        <p:spPr>
          <a:xfrm>
            <a:off x="4572000" y="3996000"/>
            <a:ext cx="3312000" cy="12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Aptos"/>
                <a:ea typeface="Aptos"/>
              </a:rPr>
              <a:t>Increase R&amp;D allocation by 15% to accelerate innovation pipeline and competitive positioning.</a:t>
            </a:r>
          </a:p>
        </p:txBody>
      </p:sp>
      <p:sp>
        <p:nvSpPr>
          <p:cNvPr id="22" name="!!co_pc2"/>
          <p:cNvSpPr/>
          <p:nvPr/>
        </p:nvSpPr>
        <p:spPr>
          <a:xfrm>
            <a:off x="8280000" y="2304000"/>
            <a:ext cx="3744000" cy="3060000"/>
          </a:xfrm>
          <a:prstGeom prst="round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!!co_pstrip2"/>
          <p:cNvSpPr/>
          <p:nvPr/>
        </p:nvSpPr>
        <p:spPr>
          <a:xfrm>
            <a:off x="8280000" y="2304000"/>
            <a:ext cx="3744000" cy="144000"/>
          </a:xfrm>
          <a:prstGeom prst="rect">
            <a:avLst/>
          </a:prstGeom>
          <a:solidFill>
            <a:srgbClr val="6A645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co_pico2"/>
          <p:cNvSpPr/>
          <p:nvPr/>
        </p:nvSpPr>
        <p:spPr>
          <a:xfrm>
            <a:off x="8496000" y="2592000"/>
            <a:ext cx="720000" cy="720000"/>
          </a:xfrm>
          <a:custGeom>
            <a:avLst/>
            <a:gdLst/>
            <a:ahLst/>
            <a:cxnLst/>
            <a:rect l="0" t="0" r="r" b="b"/>
            <a:pathLst>
              <a:path w="88" h="82">
                <a:moveTo>
                  <a:pt x="50" y="12"/>
                </a:moveTo>
                <a:lnTo>
                  <a:pt x="88" y="82"/>
                </a:lnTo>
                <a:lnTo>
                  <a:pt x="12" y="82"/>
                </a:lnTo>
                <a:close/>
                <a:moveTo>
                  <a:pt x="50" y="42"/>
                </a:moveTo>
                <a:lnTo>
                  <a:pt x="50" y="62"/>
                </a:lnTo>
                <a:moveTo>
                  <a:pt x="50" y="70"/>
                </a:moveTo>
                <a:lnTo>
                  <a:pt x="50" y="74"/>
                </a:lnTo>
              </a:path>
            </a:pathLst>
          </a:custGeom>
          <a:noFill/>
          <a:ln w="7">
            <a:solidFill>
              <a:srgbClr val="6A645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co_ptit2"/>
          <p:cNvSpPr/>
          <p:nvPr/>
        </p:nvSpPr>
        <p:spPr>
          <a:xfrm>
            <a:off x="8496000" y="3384000"/>
            <a:ext cx="3312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0">
                <a:solidFill>
                  <a:srgbClr val="6A6458"/>
                </a:solidFill>
                <a:latin typeface="Aptos Display"/>
                <a:ea typeface="Aptos Display"/>
              </a:rPr>
              <a:t>Risk Management</a:t>
            </a:r>
          </a:p>
        </p:txBody>
      </p:sp>
      <p:sp>
        <p:nvSpPr>
          <p:cNvPr id="26" name="!!co_ptxt2"/>
          <p:cNvSpPr/>
          <p:nvPr/>
        </p:nvSpPr>
        <p:spPr>
          <a:xfrm>
            <a:off x="8496000" y="3996000"/>
            <a:ext cx="3312000" cy="12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A8A090"/>
                </a:solidFill>
                <a:latin typeface="Aptos"/>
                <a:ea typeface="Aptos"/>
              </a:rPr>
              <a:t>Maintain 10% strategic reserve and implement quarterly variance review cadence.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A0E"/>
        </a:solidFill>
      </p:bgPr>
    </p:bg>
    <p:spTree>
      <p:nvGrpSpPr>
        <p:cNvPr id="1" name=""/>
        <p:cNvGrpSpPr/>
        <p:nvPr/>
      </p:nvGrpSpPr>
      <p:grpSpPr/>
      <p:sp>
        <p:nvSpPr>
          <p:cNvPr id="2" name="sa1"/>
          <p:cNvSpPr/>
          <p:nvPr/>
        </p:nvSpPr>
        <p:spPr>
          <a:xfrm>
            <a:off x="0" y="0"/>
            <a:ext cx="3600000" cy="3600000"/>
          </a:xfrm>
          <a:prstGeom prst="ellipse">
            <a:avLst/>
          </a:prstGeom>
          <a:solidFill>
            <a:srgbClr val="5A9E48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sa2"/>
          <p:cNvSpPr/>
          <p:nvPr/>
        </p:nvSpPr>
        <p:spPr>
          <a:xfrm>
            <a:off x="9360000" y="3960000"/>
            <a:ext cx="4320000" cy="4320000"/>
          </a:xfrm>
          <a:prstGeom prst="ellipse">
            <a:avLst/>
          </a:prstGeom>
          <a:solidFill>
            <a:srgbClr val="C9A84C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a3"/>
          <p:cNvSpPr/>
          <p:nvPr/>
        </p:nvSpPr>
        <p:spPr>
          <a:xfrm>
            <a:off x="4320000" y="0"/>
            <a:ext cx="3600000" cy="6858000"/>
          </a:xfrm>
          <a:prstGeom prst="rect">
            <a:avLst/>
          </a:prstGeom>
          <a:solidFill>
            <a:srgbClr val="8BC94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a4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a5"/>
          <p:cNvSpPr/>
          <p:nvPr/>
        </p:nvSpPr>
        <p:spPr>
          <a:xfrm>
            <a:off x="720000" y="3060000"/>
            <a:ext cx="1440000" cy="14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solidFill>
            <a:srgbClr val="C9A84C">
              <a:alpha val="2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a6"/>
          <p:cNvSpPr/>
          <p:nvPr/>
        </p:nvSpPr>
        <p:spPr>
          <a:xfrm>
            <a:off x="11520000" y="720000"/>
            <a:ext cx="360000" cy="360000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hl_tag"/>
          <p:cNvSpPr/>
          <p:nvPr/>
        </p:nvSpPr>
        <p:spPr>
          <a:xfrm>
            <a:off x="432000" y="360000"/>
            <a:ext cx="1800000" cy="1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hl_tag_txt"/>
          <p:cNvSpPr/>
          <p:nvPr/>
        </p:nvSpPr>
        <p:spPr>
          <a:xfrm>
            <a:off x="432000" y="360000"/>
            <a:ext cx="180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080A0E"/>
                </a:solidFill>
                <a:latin typeface="Aptos"/>
                <a:ea typeface="Aptos"/>
              </a:rPr>
              <a:t>NEXT STEPS</a:t>
            </a:r>
          </a:p>
        </p:txBody>
      </p:sp>
      <p:sp>
        <p:nvSpPr>
          <p:cNvPr id="10" name="hl_title"/>
          <p:cNvSpPr/>
          <p:nvPr/>
        </p:nvSpPr>
        <p:spPr>
          <a:xfrm>
            <a:off x="432000" y="540000"/>
            <a:ext cx="11328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0">
                <a:solidFill>
                  <a:srgbClr val="F2F0E8"/>
                </a:solidFill>
                <a:latin typeface="Aptos Display"/>
                <a:ea typeface="Aptos Display"/>
              </a:rPr>
              <a:t>Action Items &amp; Decision Points</a:t>
            </a:r>
          </a:p>
        </p:txBody>
      </p:sp>
      <p:sp>
        <p:nvSpPr>
          <p:cNvPr id="11" name="hl_sub"/>
          <p:cNvSpPr/>
          <p:nvPr/>
        </p:nvSpPr>
        <p:spPr>
          <a:xfrm>
            <a:off x="432000" y="1692000"/>
            <a:ext cx="11328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A8A090"/>
                </a:solidFill>
                <a:latin typeface="Aptos"/>
                <a:ea typeface="Aptos"/>
              </a:rPr>
              <a:t>Clear ownership and timelines for each priority item emerging from this budget review.</a:t>
            </a:r>
          </a:p>
        </p:txBody>
      </p:sp>
      <p:sp>
        <p:nvSpPr>
          <p:cNvPr id="12" name="co_abg0"/>
          <p:cNvSpPr/>
          <p:nvPr/>
        </p:nvSpPr>
        <p:spPr>
          <a:xfrm>
            <a:off x="432000" y="2304000"/>
            <a:ext cx="11328000" cy="1260000"/>
          </a:xfrm>
          <a:prstGeom prst="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co_abar0"/>
          <p:cNvSpPr/>
          <p:nvPr/>
        </p:nvSpPr>
        <p:spPr>
          <a:xfrm>
            <a:off x="432000" y="2304000"/>
            <a:ext cx="144000" cy="126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co_aico0"/>
          <p:cNvSpPr/>
          <p:nvPr/>
        </p:nvSpPr>
        <p:spPr>
          <a:xfrm>
            <a:off x="792000" y="266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7">
            <a:solidFill>
              <a:srgbClr val="C9A84C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co_atit0"/>
          <p:cNvSpPr/>
          <p:nvPr/>
        </p:nvSpPr>
        <p:spPr>
          <a:xfrm>
            <a:off x="1512000" y="2484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F2F0E8"/>
                </a:solidFill>
                <a:latin typeface="Aptos Display"/>
                <a:ea typeface="Aptos Display"/>
              </a:rPr>
              <a:t>Approve Q1 budget reallocation proposals</a:t>
            </a:r>
          </a:p>
        </p:txBody>
      </p:sp>
      <p:sp>
        <p:nvSpPr>
          <p:cNvPr id="16" name="co_aown0_ico"/>
          <p:cNvSpPr/>
          <p:nvPr/>
        </p:nvSpPr>
        <p:spPr>
          <a:xfrm>
            <a:off x="1512000" y="311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noFill/>
          <a:ln w="6">
            <a:solidFill>
              <a:srgbClr val="C9A84C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co_aown0_txt"/>
          <p:cNvSpPr/>
          <p:nvPr/>
        </p:nvSpPr>
        <p:spPr>
          <a:xfrm>
            <a:off x="2232000" y="3060000"/>
            <a:ext cx="43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CFO / Finance Committee</a:t>
            </a:r>
          </a:p>
        </p:txBody>
      </p:sp>
      <p:sp>
        <p:nvSpPr>
          <p:cNvPr id="18" name="co_adtbg0"/>
          <p:cNvSpPr/>
          <p:nvPr/>
        </p:nvSpPr>
        <p:spPr>
          <a:xfrm>
            <a:off x="9240000" y="2700000"/>
            <a:ext cx="2520000" cy="468000"/>
          </a:xfrm>
          <a:prstGeom prst="rect">
            <a:avLst/>
          </a:prstGeom>
          <a:solidFill>
            <a:srgbClr val="C9A84C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co_adt0"/>
          <p:cNvSpPr/>
          <p:nvPr/>
        </p:nvSpPr>
        <p:spPr>
          <a:xfrm>
            <a:off x="9240000" y="2700000"/>
            <a:ext cx="252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C9A84C"/>
                </a:solidFill>
                <a:latin typeface="Aptos"/>
                <a:ea typeface="Aptos"/>
              </a:rPr>
              <a:t>Q1 2025</a:t>
            </a:r>
          </a:p>
        </p:txBody>
      </p:sp>
      <p:sp>
        <p:nvSpPr>
          <p:cNvPr id="20" name="co_abg1"/>
          <p:cNvSpPr/>
          <p:nvPr/>
        </p:nvSpPr>
        <p:spPr>
          <a:xfrm>
            <a:off x="432000" y="3744000"/>
            <a:ext cx="11328000" cy="1260000"/>
          </a:xfrm>
          <a:prstGeom prst="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co_abar1"/>
          <p:cNvSpPr/>
          <p:nvPr/>
        </p:nvSpPr>
        <p:spPr>
          <a:xfrm>
            <a:off x="432000" y="3744000"/>
            <a:ext cx="144000" cy="1260000"/>
          </a:xfrm>
          <a:prstGeom prst="rect">
            <a:avLst/>
          </a:prstGeom>
          <a:solidFill>
            <a:srgbClr val="8BC94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co_aico1"/>
          <p:cNvSpPr/>
          <p:nvPr/>
        </p:nvSpPr>
        <p:spPr>
          <a:xfrm>
            <a:off x="792000" y="410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7">
            <a:solidFill>
              <a:srgbClr val="8BC94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co_atit1"/>
          <p:cNvSpPr/>
          <p:nvPr/>
        </p:nvSpPr>
        <p:spPr>
          <a:xfrm>
            <a:off x="1512000" y="3924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F2F0E8"/>
                </a:solidFill>
                <a:latin typeface="Aptos Display"/>
                <a:ea typeface="Aptos Display"/>
              </a:rPr>
              <a:t>Implement variance tracking dashboard</a:t>
            </a:r>
          </a:p>
        </p:txBody>
      </p:sp>
      <p:sp>
        <p:nvSpPr>
          <p:cNvPr id="24" name="co_aown1_ico"/>
          <p:cNvSpPr/>
          <p:nvPr/>
        </p:nvSpPr>
        <p:spPr>
          <a:xfrm>
            <a:off x="1512000" y="455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noFill/>
          <a:ln w="6">
            <a:solidFill>
              <a:srgbClr val="8BC94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co_aown1_txt"/>
          <p:cNvSpPr/>
          <p:nvPr/>
        </p:nvSpPr>
        <p:spPr>
          <a:xfrm>
            <a:off x="2232000" y="4500000"/>
            <a:ext cx="43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FP&amp;A Team / IT</a:t>
            </a:r>
          </a:p>
        </p:txBody>
      </p:sp>
      <p:sp>
        <p:nvSpPr>
          <p:cNvPr id="26" name="co_adtbg1"/>
          <p:cNvSpPr/>
          <p:nvPr/>
        </p:nvSpPr>
        <p:spPr>
          <a:xfrm>
            <a:off x="9240000" y="4140000"/>
            <a:ext cx="2520000" cy="468000"/>
          </a:xfrm>
          <a:prstGeom prst="rect">
            <a:avLst/>
          </a:prstGeom>
          <a:solidFill>
            <a:srgbClr val="8BC94A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co_adt1"/>
          <p:cNvSpPr/>
          <p:nvPr/>
        </p:nvSpPr>
        <p:spPr>
          <a:xfrm>
            <a:off x="9240000" y="4140000"/>
            <a:ext cx="252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8BC94A"/>
                </a:solidFill>
                <a:latin typeface="Aptos"/>
                <a:ea typeface="Aptos"/>
              </a:rPr>
              <a:t>Q2 2025</a:t>
            </a:r>
          </a:p>
        </p:txBody>
      </p:sp>
      <p:sp>
        <p:nvSpPr>
          <p:cNvPr id="28" name="co_abg2"/>
          <p:cNvSpPr/>
          <p:nvPr/>
        </p:nvSpPr>
        <p:spPr>
          <a:xfrm>
            <a:off x="432000" y="5184000"/>
            <a:ext cx="11328000" cy="1260000"/>
          </a:xfrm>
          <a:prstGeom prst="rect">
            <a:avLst/>
          </a:prstGeom>
          <a:solidFill>
            <a:srgbClr val="141A20"/>
          </a:solidFill>
          <a:ln w="1">
            <a:solidFill>
              <a:srgbClr val="25282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co_abar2"/>
          <p:cNvSpPr/>
          <p:nvPr/>
        </p:nvSpPr>
        <p:spPr>
          <a:xfrm>
            <a:off x="432000" y="5184000"/>
            <a:ext cx="144000" cy="1260000"/>
          </a:xfrm>
          <a:prstGeom prst="rect">
            <a:avLst/>
          </a:prstGeom>
          <a:solidFill>
            <a:srgbClr val="6A645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co_aico2"/>
          <p:cNvSpPr/>
          <p:nvPr/>
        </p:nvSpPr>
        <p:spPr>
          <a:xfrm>
            <a:off x="792000" y="554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  <a:noFill/>
          <a:ln w="7">
            <a:solidFill>
              <a:srgbClr val="6A645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co_atit2"/>
          <p:cNvSpPr/>
          <p:nvPr/>
        </p:nvSpPr>
        <p:spPr>
          <a:xfrm>
            <a:off x="1512000" y="5364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F2F0E8"/>
                </a:solidFill>
                <a:latin typeface="Aptos Display"/>
                <a:ea typeface="Aptos Display"/>
              </a:rPr>
              <a:t>Conduct departmental budget alignment workshops</a:t>
            </a:r>
          </a:p>
        </p:txBody>
      </p:sp>
      <p:sp>
        <p:nvSpPr>
          <p:cNvPr id="32" name="co_aown2_ico"/>
          <p:cNvSpPr/>
          <p:nvPr/>
        </p:nvSpPr>
        <p:spPr>
          <a:xfrm>
            <a:off x="1512000" y="5994000"/>
            <a:ext cx="540000" cy="540000"/>
          </a:xfrm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  <a:noFill/>
          <a:ln w="6">
            <a:solidFill>
              <a:srgbClr val="6A645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co_aown2_txt"/>
          <p:cNvSpPr/>
          <p:nvPr/>
        </p:nvSpPr>
        <p:spPr>
          <a:xfrm>
            <a:off x="2232000" y="5940000"/>
            <a:ext cx="43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6A6458"/>
                </a:solidFill>
                <a:latin typeface="Calibri"/>
                <a:ea typeface="Calibri"/>
              </a:rPr>
              <a:t>Department Heads / HR</a:t>
            </a:r>
          </a:p>
        </p:txBody>
      </p:sp>
      <p:sp>
        <p:nvSpPr>
          <p:cNvPr id="34" name="co_adtbg2"/>
          <p:cNvSpPr/>
          <p:nvPr/>
        </p:nvSpPr>
        <p:spPr>
          <a:xfrm>
            <a:off x="9240000" y="5580000"/>
            <a:ext cx="2520000" cy="468000"/>
          </a:xfrm>
          <a:prstGeom prst="rect">
            <a:avLst/>
          </a:prstGeom>
          <a:solidFill>
            <a:srgbClr val="6A6458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co_adt2"/>
          <p:cNvSpPr/>
          <p:nvPr/>
        </p:nvSpPr>
        <p:spPr>
          <a:xfrm>
            <a:off x="9240000" y="5580000"/>
            <a:ext cx="252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6A6458"/>
                </a:solidFill>
                <a:latin typeface="Aptos"/>
                <a:ea typeface="Aptos"/>
              </a:rPr>
              <a:t>Q2 2025</a:t>
            </a:r>
          </a:p>
        </p:txBody>
      </p:sp>
      <p:sp>
        <p:nvSpPr>
          <p:cNvPr id="36" name="co_cline"/>
          <p:cNvSpPr/>
          <p:nvPr/>
        </p:nvSpPr>
        <p:spPr>
          <a:xfrm>
            <a:off x="432000" y="6480000"/>
            <a:ext cx="11328000" cy="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co_closing"/>
          <p:cNvSpPr/>
          <p:nvPr/>
        </p:nvSpPr>
        <p:spPr>
          <a:xfrm>
            <a:off x="432000" y="6588000"/>
            <a:ext cx="113280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6A6458"/>
                </a:solidFill>
                <a:latin typeface="Aptos Display"/>
                <a:ea typeface="Aptos Display"/>
              </a:rPr>
              <a:t>Together, data-driven decisions create accountability and drive sustainable financial performance.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